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1d1ef514de4f8a" /><Relationship Type="http://schemas.openxmlformats.org/officeDocument/2006/relationships/extended-properties" Target="/docProps/app.xml" Id="R8b44cd03214f4135" /><Relationship Type="http://schemas.openxmlformats.org/officeDocument/2006/relationships/officeDocument" Target="/ppt/presentation.xml" Id="Rc919a24d3ed54f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a7e334a7f24b51"/>
  </p:sldMasterIdLst>
  <p:notesMasterIdLst>
    <p:notesMasterId xmlns:r="http://schemas.openxmlformats.org/officeDocument/2006/relationships" r:id="R1329018adc084f6b"/>
  </p:notesMasterIdLst>
  <p:sldIdLst>
    <p:sldId xmlns:r="http://schemas.openxmlformats.org/officeDocument/2006/relationships" id="256" r:id="R7e8708c91a694807"/>
    <p:sldId xmlns:r="http://schemas.openxmlformats.org/officeDocument/2006/relationships" id="257" r:id="R092ab329a5eb4aac"/>
    <p:sldId xmlns:r="http://schemas.openxmlformats.org/officeDocument/2006/relationships" id="258" r:id="Ref0026b85b36437d"/>
    <p:sldId xmlns:r="http://schemas.openxmlformats.org/officeDocument/2006/relationships" id="259" r:id="Rb1d4dd5e69fc4570"/>
    <p:sldId xmlns:r="http://schemas.openxmlformats.org/officeDocument/2006/relationships" id="260" r:id="Rba9f1b7be5704eeb"/>
    <p:sldId xmlns:r="http://schemas.openxmlformats.org/officeDocument/2006/relationships" id="261" r:id="R2c79487fcf4e4475"/>
    <p:sldId xmlns:r="http://schemas.openxmlformats.org/officeDocument/2006/relationships" id="262" r:id="Ra41fb6517f074125"/>
    <p:sldId xmlns:r="http://schemas.openxmlformats.org/officeDocument/2006/relationships" id="263" r:id="R19cec094d63b42a8"/>
    <p:sldId xmlns:r="http://schemas.openxmlformats.org/officeDocument/2006/relationships" id="264" r:id="R27fe2f03831345a7"/>
    <p:sldId xmlns:r="http://schemas.openxmlformats.org/officeDocument/2006/relationships" id="265" r:id="Ra9faa583471d443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04a83c784af4f6c" /><Relationship Type="http://schemas.openxmlformats.org/officeDocument/2006/relationships/slideMaster" Target="/ppt/slideMasters/slideMaster1.xml" Id="R63a7e334a7f24b51" /><Relationship Type="http://schemas.openxmlformats.org/officeDocument/2006/relationships/notesMaster" Target="/ppt/notesMasters/notesMaster1.xml" Id="R1329018adc084f6b" /><Relationship Type="http://schemas.openxmlformats.org/officeDocument/2006/relationships/presProps" Target="/ppt/presProps.xml" Id="R2f3a92ed1a2b45d8" /><Relationship Type="http://schemas.openxmlformats.org/officeDocument/2006/relationships/tableStyles" Target="/ppt/tableStyles.xml" Id="R04fc095a01ba45c6" /><Relationship Type="http://schemas.openxmlformats.org/officeDocument/2006/relationships/slide" Target="/ppt/slides/slide1.xml" Id="R7e8708c91a694807" /><Relationship Type="http://schemas.openxmlformats.org/officeDocument/2006/relationships/slide" Target="/ppt/slides/slide2.xml" Id="R092ab329a5eb4aac" /><Relationship Type="http://schemas.openxmlformats.org/officeDocument/2006/relationships/slide" Target="/ppt/slides/slide3.xml" Id="Ref0026b85b36437d" /><Relationship Type="http://schemas.openxmlformats.org/officeDocument/2006/relationships/slide" Target="/ppt/slides/slide4.xml" Id="Rb1d4dd5e69fc4570" /><Relationship Type="http://schemas.openxmlformats.org/officeDocument/2006/relationships/slide" Target="/ppt/slides/slide5.xml" Id="Rba9f1b7be5704eeb" /><Relationship Type="http://schemas.openxmlformats.org/officeDocument/2006/relationships/slide" Target="/ppt/slides/slide6.xml" Id="R2c79487fcf4e4475" /><Relationship Type="http://schemas.openxmlformats.org/officeDocument/2006/relationships/slide" Target="/ppt/slides/slide7.xml" Id="Ra41fb6517f074125" /><Relationship Type="http://schemas.openxmlformats.org/officeDocument/2006/relationships/slide" Target="/ppt/slides/slide8.xml" Id="R19cec094d63b42a8" /><Relationship Type="http://schemas.openxmlformats.org/officeDocument/2006/relationships/slide" Target="/ppt/slides/slide9.xml" Id="R27fe2f03831345a7" /><Relationship Type="http://schemas.openxmlformats.org/officeDocument/2006/relationships/slide" Target="/ppt/slides/slide10.xml" Id="Ra9faa583471d443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faf2de655f84a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c1277bfbf64c84" /><Relationship Type="http://schemas.openxmlformats.org/officeDocument/2006/relationships/notesMaster" Target="/ppt/notesMasters/notesMaster1.xml" Id="R0db03e4a5538433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bb01ba0bdb947e0" /><Relationship Type="http://schemas.openxmlformats.org/officeDocument/2006/relationships/notesMaster" Target="/ppt/notesMasters/notesMaster1.xml" Id="R970b63ecf9804d3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61a6bf30035463c" /><Relationship Type="http://schemas.openxmlformats.org/officeDocument/2006/relationships/notesMaster" Target="/ppt/notesMasters/notesMaster1.xml" Id="Ra9d3615f0dbb42f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1965ac044cd4a9e" /><Relationship Type="http://schemas.openxmlformats.org/officeDocument/2006/relationships/notesMaster" Target="/ppt/notesMasters/notesMaster1.xml" Id="R26e394664dcb4c0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b4ecdaf2cc841b3" /><Relationship Type="http://schemas.openxmlformats.org/officeDocument/2006/relationships/notesMaster" Target="/ppt/notesMasters/notesMaster1.xml" Id="R0a0ca8dba9b045f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48159feb6c04c0f" /><Relationship Type="http://schemas.openxmlformats.org/officeDocument/2006/relationships/notesMaster" Target="/ppt/notesMasters/notesMaster1.xml" Id="R32a2c0e92068447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ee0d91910854b95" /><Relationship Type="http://schemas.openxmlformats.org/officeDocument/2006/relationships/notesMaster" Target="/ppt/notesMasters/notesMaster1.xml" Id="R7b021d4ddf6c484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ce3b31618ed42b9" /><Relationship Type="http://schemas.openxmlformats.org/officeDocument/2006/relationships/notesMaster" Target="/ppt/notesMasters/notesMaster1.xml" Id="R3485d465eb6949d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b93e8eef80d4f1e" /><Relationship Type="http://schemas.openxmlformats.org/officeDocument/2006/relationships/notesMaster" Target="/ppt/notesMasters/notesMaster1.xml" Id="Ra30eec990b694dd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044e69d64ab4ebd" /><Relationship Type="http://schemas.openxmlformats.org/officeDocument/2006/relationships/notesMaster" Target="/ppt/notesMasters/notesMaster1.xml" Id="R1c7d8b53a62b4cb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Apresentação consolidada a partir da documentação do projeto Controle de Brindes.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escopo prioriza a operação TRADE, solicitações internas, estoque, integrações e experiência responsiva para PC e tablet.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fluxo documentado usa o endpoint /api/lecom/process/start e preserva o cookie LecomSSOTicket quando a abertura parte do ambiente homologação.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Referências oficiais: https://learn.microsoft.com/en-us/exchange/clients-and-mobile-in-exchange-online/authenticated-client-smtp-submission e https://learn.microsoft.com/en-us/exchange/mail-flow-best-practices/how-to-set-up-a-multifunction-device-or-application-to-send-email-using-microsoft-365-or-office-365. O Microsoft 365 recomenda autenticação moderna/OAuth; caso a política da empresa bloqueie autenticação básica, o projeto deve migrar o Mailer para OAuth2 ou Microsoft Graph. Se o remetente for diferente da conta autenticada, será necessária permissão Send 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b524b43f4e4e9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6ead2f7fbc64157" /><Relationship Type="http://schemas.openxmlformats.org/officeDocument/2006/relationships/slideLayout" Target="/ppt/slideLayouts/slideLayout1.xml" Id="Ra671a07e88e2498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71a07e88e2498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fc818372324ae5" /><Relationship Type="http://schemas.openxmlformats.org/officeDocument/2006/relationships/notesSlide" Target="/ppt/notesSlides/notesSlide1.xml" Id="R4c23f5af77f4412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844ba3cec147d3" /><Relationship Type="http://schemas.openxmlformats.org/officeDocument/2006/relationships/notesSlide" Target="/ppt/notesSlides/notesSlide2.xml" Id="R7e542baf7a35490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4c9687dd494a55" /><Relationship Type="http://schemas.openxmlformats.org/officeDocument/2006/relationships/notesSlide" Target="/ppt/notesSlides/notesSlide3.xml" Id="Re8d8bfec0143456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b694619a1d42b7" /><Relationship Type="http://schemas.openxmlformats.org/officeDocument/2006/relationships/notesSlide" Target="/ppt/notesSlides/notesSlide4.xml" Id="R41ae045127924a3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69c5b9072e403c" /><Relationship Type="http://schemas.openxmlformats.org/officeDocument/2006/relationships/notesSlide" Target="/ppt/notesSlides/notesSlide5.xml" Id="Rbcbb3c343a64498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163519d7034c2d" /><Relationship Type="http://schemas.openxmlformats.org/officeDocument/2006/relationships/notesSlide" Target="/ppt/notesSlides/notesSlide6.xml" Id="R9d6f532636d8487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1ef64d13b44eaa" /><Relationship Type="http://schemas.openxmlformats.org/officeDocument/2006/relationships/notesSlide" Target="/ppt/notesSlides/notesSlide7.xml" Id="Rc25b404eddd94d4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6d34a2b28f4e8f" /><Relationship Type="http://schemas.openxmlformats.org/officeDocument/2006/relationships/notesSlide" Target="/ppt/notesSlides/notesSlide8.xml" Id="R1f0bdb40bcbd444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08ba53f97f4aae" /><Relationship Type="http://schemas.openxmlformats.org/officeDocument/2006/relationships/notesSlide" Target="/ppt/notesSlides/notesSlide9.xml" Id="R12d2b6e33eb94b6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191e4305d54ffe" /><Relationship Type="http://schemas.openxmlformats.org/officeDocument/2006/relationships/notesSlide" Target="/ppt/notesSlides/notesSlide10.xml" Id="Rb4640b28f902466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E935B0-12F2-4E5A-BA7C-71BF1637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48F3E4-D3A3-493B-B126-8BB6286ED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DB7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DB7FF"/>
                </a:solidFill>
                <a:latin typeface="Arial"/>
                <a:ea typeface="Arial"/>
                <a:cs typeface="Arial"/>
              </a:rPr>
              <a:t>CONTROLE DE BRINDES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F7C4D6-B56A-4CA8-BB6D-0C5095EE5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7239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Uma operação mais simples</a:t>
            </a:r>
          </a:p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para solicitar, aprovar e acompanhar brindes.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496538-336E-4EAB-A995-5129AEE04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24250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C6D2E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6D2E2"/>
                </a:solidFill>
                <a:latin typeface="Arial"/>
                <a:ea typeface="Arial"/>
                <a:cs typeface="Arial"/>
              </a:rPr>
              <a:t>Visão de produto • arquitetura • experiência • roadmap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8C8A6F-0455-41FA-BBD2-B7FB35F92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67250"/>
            <a:ext cx="48577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2541"/>
          </a:solidFill>
          <a:ln xmlns:a="http://schemas.openxmlformats.org/drawingml/2006/main" w="9525">
            <a:solidFill>
              <a:srgbClr val="2B426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4E2F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4E2F7"/>
                </a:solidFill>
                <a:latin typeface="Arial"/>
                <a:ea typeface="Arial"/>
                <a:cs typeface="Arial"/>
              </a:rPr>
              <a:t>TRADE  /  solicitações internas  /  estoque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2C6D0E-1718-435E-865C-D7DFA339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531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91A4B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1A4BE"/>
                </a:solidFill>
                <a:latin typeface="Arial"/>
                <a:ea typeface="Arial"/>
                <a:cs typeface="Arial"/>
              </a:rPr>
              <a:t>Projeto base PHP • pronto para evolução incremental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DC5308-1BCC-4FC4-826C-D9045DE6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38300"/>
            <a:ext cx="2095500" cy="1143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2213A"/>
          </a:solidFill>
          <a:ln xmlns:a="http://schemas.openxmlformats.org/drawingml/2006/main" w="9525">
            <a:solidFill>
              <a:srgbClr val="2B426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produto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14E74D-8255-4ACF-8D6B-9846F8117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19450"/>
            <a:ext cx="1619250" cy="10287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02D45"/>
          </a:solidFill>
          <a:ln xmlns:a="http://schemas.openxmlformats.org/drawingml/2006/main" w="9525">
            <a:solidFill>
              <a:srgbClr val="1F738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9F4E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9F4ED"/>
                </a:solidFill>
                <a:latin typeface="Arial"/>
                <a:ea typeface="Arial"/>
                <a:cs typeface="Arial"/>
              </a:rPr>
              <a:t>02</a:t>
            </a:r>
          </a:p>
          <a:p xmlns:a="http://schemas.openxmlformats.org/drawingml/2006/main">
            <a:pPr>
              <a:defRPr sz="1650" b="1">
                <a:solidFill>
                  <a:srgbClr val="B9F4E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9F4ED"/>
                </a:solidFill>
                <a:latin typeface="Arial"/>
                <a:ea typeface="Arial"/>
                <a:cs typeface="Arial"/>
              </a:rPr>
              <a:t>operação</a:t>
            </a:r>
          </a:p>
        </p:txBody>
      </p:sp>
    </p:spTree>
    <p:extLst>
      <p:ext uri="{BB962C8B-B14F-4D97-AF65-F5344CB8AC3E}">
        <p14:creationId xmlns:p14="http://schemas.microsoft.com/office/powerpoint/2010/main" val="21409726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599FB8-E9F4-4893-BBF7-65039965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01 / CONTEXTO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DF0C49-8A84-4028-9570-5296325AC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235"/>
                </a:solidFill>
                <a:latin typeface="Arial"/>
                <a:ea typeface="Arial"/>
                <a:cs typeface="Arial"/>
              </a:rPr>
              <a:t>Menos atrito entre a necessidade e a entrega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39B656-B503-4A9F-A137-70674B73A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996F7E-BFB0-47C1-915C-9BE034D9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1819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D69B5E-32C7-40F8-8F9A-A5386DF37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O sistema deve transformar uma solicitação dispersa em um fluxo rastreável, com contexto suficiente para decisão e execução.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7901F7-9AAE-43B3-B8D8-A2C157B04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4714875" cy="2857500"/>
          </a:xfrm>
          <a:prstGeom xmlns:a="http://schemas.openxmlformats.org/drawingml/2006/main" prst="roundRect">
            <a:avLst>
              <a:gd name="adj" fmla="val 7333"/>
            </a:avLst>
          </a:prstGeom>
          <a:solidFill xmlns:a="http://schemas.openxmlformats.org/drawingml/2006/main">
            <a:srgbClr val="FDECEA"/>
          </a:solidFill>
          <a:ln xmlns:a="http://schemas.openxmlformats.org/drawingml/2006/main" w="9525">
            <a:solidFill>
              <a:srgbClr val="F2B8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42318"/>
                </a:solidFill>
                <a:latin typeface="Arial"/>
                <a:ea typeface="Arial"/>
                <a:cs typeface="Arial"/>
              </a:rPr>
              <a:t>ANTES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42318"/>
                </a:solidFill>
                <a:latin typeface="Arial"/>
                <a:ea typeface="Arial"/>
                <a:cs typeface="Arial"/>
              </a:rPr>
              <a:t>Pedidos por canais diferentes</a:t>
            </a:r>
          </a:p>
          <a:p xmlns:a="http://schemas.openxmlformats.org/drawingml/2006/main">
            <a:pPr>
              <a:defRPr sz="1500" b="0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42318"/>
                </a:solidFill>
                <a:latin typeface="Arial"/>
                <a:ea typeface="Arial"/>
                <a:cs typeface="Arial"/>
              </a:rPr>
              <a:t>Pouca visibilidade do status</a:t>
            </a:r>
          </a:p>
          <a:p xmlns:a="http://schemas.openxmlformats.org/drawingml/2006/main">
            <a:pPr>
              <a:defRPr sz="1500" b="0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42318"/>
                </a:solidFill>
                <a:latin typeface="Arial"/>
                <a:ea typeface="Arial"/>
                <a:cs typeface="Arial"/>
              </a:rPr>
              <a:t>Chamados e e-mails desconectados</a:t>
            </a:r>
          </a:p>
          <a:p xmlns:a="http://schemas.openxmlformats.org/drawingml/2006/main">
            <a:pPr>
              <a:defRPr sz="1500" b="0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42318"/>
                </a:solidFill>
                <a:latin typeface="Arial"/>
                <a:ea typeface="Arial"/>
                <a:cs typeface="Arial"/>
              </a:rPr>
              <a:t>Decisões sem histórico operacional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F57AE7-FAC0-4863-B6B3-FD35C773E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4714875" cy="2857500"/>
          </a:xfrm>
          <a:prstGeom xmlns:a="http://schemas.openxmlformats.org/drawingml/2006/main" prst="roundRect">
            <a:avLst>
              <a:gd name="adj" fmla="val 7333"/>
            </a:avLst>
          </a:prstGeom>
          <a:solidFill xmlns:a="http://schemas.openxmlformats.org/drawingml/2006/main">
            <a:srgbClr val="E6F5EE"/>
          </a:solidFill>
          <a:ln xmlns:a="http://schemas.openxmlformats.org/drawingml/2006/main" w="9525">
            <a:solidFill>
              <a:srgbClr val="A8DEC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6805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805B"/>
                </a:solidFill>
                <a:latin typeface="Arial"/>
                <a:ea typeface="Arial"/>
                <a:cs typeface="Arial"/>
              </a:rPr>
              <a:t>DEPOIS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6805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805B"/>
                </a:solidFill>
                <a:latin typeface="Arial"/>
                <a:ea typeface="Arial"/>
                <a:cs typeface="Arial"/>
              </a:rPr>
              <a:t>Solicitação guiada</a:t>
            </a:r>
          </a:p>
          <a:p xmlns:a="http://schemas.openxmlformats.org/drawingml/2006/main">
            <a:pPr>
              <a:defRPr sz="1500" b="0">
                <a:solidFill>
                  <a:srgbClr val="16805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805B"/>
                </a:solidFill>
                <a:latin typeface="Arial"/>
                <a:ea typeface="Arial"/>
                <a:cs typeface="Arial"/>
              </a:rPr>
              <a:t>Aprovação com histórico</a:t>
            </a:r>
          </a:p>
          <a:p xmlns:a="http://schemas.openxmlformats.org/drawingml/2006/main">
            <a:pPr>
              <a:defRPr sz="1500" b="0">
                <a:solidFill>
                  <a:srgbClr val="16805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805B"/>
                </a:solidFill>
                <a:latin typeface="Arial"/>
                <a:ea typeface="Arial"/>
                <a:cs typeface="Arial"/>
              </a:rPr>
              <a:t>Chamado Lecom no momento certo</a:t>
            </a:r>
          </a:p>
          <a:p xmlns:a="http://schemas.openxmlformats.org/drawingml/2006/main">
            <a:pPr>
              <a:defRPr sz="1500" b="0">
                <a:solidFill>
                  <a:srgbClr val="16805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805B"/>
                </a:solidFill>
                <a:latin typeface="Arial"/>
                <a:ea typeface="Arial"/>
                <a:cs typeface="Arial"/>
              </a:rPr>
              <a:t>E-mail ao solicitante</a:t>
            </a:r>
          </a:p>
          <a:p xmlns:a="http://schemas.openxmlformats.org/drawingml/2006/main">
            <a:pPr>
              <a:defRPr sz="1500" b="0">
                <a:solidFill>
                  <a:srgbClr val="16805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805B"/>
                </a:solidFill>
                <a:latin typeface="Arial"/>
                <a:ea typeface="Arial"/>
                <a:cs typeface="Arial"/>
              </a:rPr>
              <a:t>Uso conectado ou offline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017D9E-BDC2-48A5-A728-CEB5BF5B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667125"/>
            <a:ext cx="1047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7FD210-FA11-44D2-9B98-A45A6365B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00050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clareza</a:t>
            </a:r>
          </a:p>
        </p:txBody>
      </p:sp>
    </p:spTree>
    <p:extLst>
      <p:ext uri="{BB962C8B-B14F-4D97-AF65-F5344CB8AC3E}">
        <p14:creationId xmlns:p14="http://schemas.microsoft.com/office/powerpoint/2010/main" val="4950034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293652-315C-42CF-9B92-192796EF8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02 / APP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08BE68-AC14-4F81-A0A1-B171D1DA6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235"/>
                </a:solidFill>
                <a:latin typeface="Arial"/>
                <a:ea typeface="Arial"/>
                <a:cs typeface="Arial"/>
              </a:rPr>
              <a:t>O fluxo TRADE, do pedido ao chamado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6EC4A6-0BBE-44B7-9CA7-EF463B07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C8CAE1-D0BA-4B61-967C-D3A87AD0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1819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FA7DC3-AECD-4C26-88E6-52AE87596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A ação de abrir chamado fica dentro de Nova solicitação TRADE. Não há uma aba separada para esse momento.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288937-64EA-45F5-A4E1-BC17123F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1847850" cy="2190750"/>
          </a:xfrm>
          <a:prstGeom xmlns:a="http://schemas.openxmlformats.org/drawingml/2006/main" prst="roundRect">
            <a:avLst>
              <a:gd name="adj" fmla="val 9278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2235"/>
                </a:solidFill>
                <a:latin typeface="Arial"/>
                <a:ea typeface="Arial"/>
                <a:cs typeface="Arial"/>
              </a:rPr>
              <a:t>01</a:t>
            </a:r>
          </a:p>
          <a:p xmlns:a="http://schemas.openxmlformats.org/drawingml/2006/main">
            <a:pPr>
              <a:defRPr sz="1275" b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2235"/>
                </a:solidFill>
                <a:latin typeface="Arial"/>
                <a:ea typeface="Arial"/>
                <a:cs typeface="Arial"/>
              </a:rPr>
              <a:t>Preencher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2235"/>
                </a:solidFill>
                <a:latin typeface="Arial"/>
                <a:ea typeface="Arial"/>
                <a:cs typeface="Arial"/>
              </a:rPr>
              <a:t>indústria • finalidade</a:t>
            </a:r>
          </a:p>
          <a:p xmlns:a="http://schemas.openxmlformats.org/drawingml/2006/main">
            <a:pPr>
              <a:defRPr sz="1275" b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2235"/>
                </a:solidFill>
                <a:latin typeface="Arial"/>
                <a:ea typeface="Arial"/>
                <a:cs typeface="Arial"/>
              </a:rPr>
              <a:t>entrega • observações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996D7E-8A7B-46F2-8D0D-EB144F79C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486150"/>
            <a:ext cx="3619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8B5C4"/>
          </a:solidFill>
          <a:ln xmlns:a="http://schemas.openxmlformats.org/drawingml/2006/main" w="0">
            <a:solidFill>
              <a:srgbClr val="A8B5C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214008-29AA-4D6C-B653-39DE61829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33650"/>
            <a:ext cx="1847850" cy="2190750"/>
          </a:xfrm>
          <a:prstGeom xmlns:a="http://schemas.openxmlformats.org/drawingml/2006/main" prst="roundRect">
            <a:avLst>
              <a:gd name="adj" fmla="val 9278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2235"/>
                </a:solidFill>
                <a:latin typeface="Arial"/>
                <a:ea typeface="Arial"/>
                <a:cs typeface="Arial"/>
              </a:rPr>
              <a:t>02</a:t>
            </a:r>
          </a:p>
          <a:p xmlns:a="http://schemas.openxmlformats.org/drawingml/2006/main">
            <a:pPr>
              <a:defRPr sz="1275" b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2235"/>
                </a:solidFill>
                <a:latin typeface="Arial"/>
                <a:ea typeface="Arial"/>
                <a:cs typeface="Arial"/>
              </a:rPr>
              <a:t>Enviar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2235"/>
                </a:solidFill>
                <a:latin typeface="Arial"/>
                <a:ea typeface="Arial"/>
                <a:cs typeface="Arial"/>
              </a:rPr>
              <a:t>validação do pedido</a:t>
            </a:r>
          </a:p>
          <a:p xmlns:a="http://schemas.openxmlformats.org/drawingml/2006/main">
            <a:pPr>
              <a:defRPr sz="1275" b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2235"/>
                </a:solidFill>
                <a:latin typeface="Arial"/>
                <a:ea typeface="Arial"/>
                <a:cs typeface="Arial"/>
              </a:rPr>
              <a:t>e gravação da solicitação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16EB0E-200E-4A03-BDAA-EDCFBA32B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486150"/>
            <a:ext cx="3619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8B5C4"/>
          </a:solidFill>
          <a:ln xmlns:a="http://schemas.openxmlformats.org/drawingml/2006/main" w="0">
            <a:solidFill>
              <a:srgbClr val="A8B5C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2AA857-2618-449F-A25F-7E073CE79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533650"/>
            <a:ext cx="1847850" cy="2190750"/>
          </a:xfrm>
          <a:prstGeom xmlns:a="http://schemas.openxmlformats.org/drawingml/2006/main" prst="roundRect">
            <a:avLst>
              <a:gd name="adj" fmla="val 9278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2235"/>
                </a:solidFill>
                <a:latin typeface="Arial"/>
                <a:ea typeface="Arial"/>
                <a:cs typeface="Arial"/>
              </a:rPr>
              <a:t>03</a:t>
            </a:r>
          </a:p>
          <a:p xmlns:a="http://schemas.openxmlformats.org/drawingml/2006/main">
            <a:pPr>
              <a:defRPr sz="1275" b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2235"/>
                </a:solidFill>
                <a:latin typeface="Arial"/>
                <a:ea typeface="Arial"/>
                <a:cs typeface="Arial"/>
              </a:rPr>
              <a:t>Aprovar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2235"/>
                </a:solidFill>
                <a:latin typeface="Arial"/>
                <a:ea typeface="Arial"/>
                <a:cs typeface="Arial"/>
              </a:rPr>
              <a:t>workflow com histórico</a:t>
            </a:r>
          </a:p>
          <a:p xmlns:a="http://schemas.openxmlformats.org/drawingml/2006/main">
            <a:pPr>
              <a:defRPr sz="1275" b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2235"/>
                </a:solidFill>
                <a:latin typeface="Arial"/>
                <a:ea typeface="Arial"/>
                <a:cs typeface="Arial"/>
              </a:rPr>
              <a:t>e permissões por perfil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106646-00EC-4326-B3E8-00B0789C0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486150"/>
            <a:ext cx="3619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8B5C4"/>
          </a:solidFill>
          <a:ln xmlns:a="http://schemas.openxmlformats.org/drawingml/2006/main" w="0">
            <a:solidFill>
              <a:srgbClr val="A8B5C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8C560E-B69E-4266-84AD-C1BB0B663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533650"/>
            <a:ext cx="1847850" cy="2190750"/>
          </a:xfrm>
          <a:prstGeom xmlns:a="http://schemas.openxmlformats.org/drawingml/2006/main" prst="roundRect">
            <a:avLst>
              <a:gd name="adj" fmla="val 9278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9DBB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563EB"/>
                </a:solidFill>
                <a:latin typeface="Arial"/>
                <a:ea typeface="Arial"/>
                <a:cs typeface="Arial"/>
              </a:rPr>
              <a:t>04</a:t>
            </a:r>
          </a:p>
          <a:p xmlns:a="http://schemas.openxmlformats.org/drawingml/2006/main">
            <a:pPr>
              <a:defRPr sz="1275" b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563EB"/>
                </a:solidFill>
                <a:latin typeface="Arial"/>
                <a:ea typeface="Arial"/>
                <a:cs typeface="Arial"/>
              </a:rPr>
              <a:t>Abrir chamado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563EB"/>
                </a:solidFill>
                <a:latin typeface="Arial"/>
                <a:ea typeface="Arial"/>
                <a:cs typeface="Arial"/>
              </a:rPr>
              <a:t>Lecom SSO ou fallback</a:t>
            </a:r>
          </a:p>
          <a:p xmlns:a="http://schemas.openxmlformats.org/drawingml/2006/main">
            <a:pPr>
              <a:defRPr sz="1275" b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563EB"/>
                </a:solidFill>
                <a:latin typeface="Arial"/>
                <a:ea typeface="Arial"/>
                <a:cs typeface="Arial"/>
              </a:rPr>
              <a:t>processo 26 / versão 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E4D61E-D928-4BC4-BF85-4E4221143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486150"/>
            <a:ext cx="3619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BBEC42-A446-4629-A131-E9D54ED24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533650"/>
            <a:ext cx="1847850" cy="2190750"/>
          </a:xfrm>
          <a:prstGeom xmlns:a="http://schemas.openxmlformats.org/drawingml/2006/main" prst="roundRect">
            <a:avLst>
              <a:gd name="adj" fmla="val 9278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2235"/>
                </a:solidFill>
                <a:latin typeface="Arial"/>
                <a:ea typeface="Arial"/>
                <a:cs typeface="Arial"/>
              </a:rPr>
              <a:t>05</a:t>
            </a:r>
          </a:p>
          <a:p xmlns:a="http://schemas.openxmlformats.org/drawingml/2006/main">
            <a:pPr>
              <a:defRPr sz="1275" b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2235"/>
                </a:solidFill>
                <a:latin typeface="Arial"/>
                <a:ea typeface="Arial"/>
                <a:cs typeface="Arial"/>
              </a:rPr>
              <a:t>Notificar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2235"/>
                </a:solidFill>
                <a:latin typeface="Arial"/>
                <a:ea typeface="Arial"/>
                <a:cs typeface="Arial"/>
              </a:rPr>
              <a:t>e-mail ao solicitante</a:t>
            </a:r>
          </a:p>
          <a:p xmlns:a="http://schemas.openxmlformats.org/drawingml/2006/main">
            <a:pPr>
              <a:defRPr sz="1275" b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2235"/>
                </a:solidFill>
                <a:latin typeface="Arial"/>
                <a:ea typeface="Arial"/>
                <a:cs typeface="Arial"/>
              </a:rPr>
              <a:t>via fila de notificações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921AEA-716F-4584-AB69-C8176E0D9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429250"/>
            <a:ext cx="647700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F1CF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97706"/>
                </a:solidFill>
                <a:latin typeface="Arial"/>
                <a:ea typeface="Arial"/>
                <a:cs typeface="Arial"/>
              </a:rPr>
              <a:t>Ponto de decisão</a:t>
            </a:r>
          </a:p>
          <a:p xmlns:a="http://schemas.openxmlformats.org/drawingml/2006/main">
            <a:pPr>
              <a:defRPr sz="1125" b="0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97706"/>
                </a:solidFill>
                <a:latin typeface="Arial"/>
                <a:ea typeface="Arial"/>
                <a:cs typeface="Arial"/>
              </a:rPr>
              <a:t>Se estiver offline, o pedido fica na outbox local e sincroniza quando a conexão voltar.</a:t>
            </a:r>
          </a:p>
        </p:txBody>
      </p:sp>
    </p:spTree>
    <p:extLst>
      <p:ext uri="{BB962C8B-B14F-4D97-AF65-F5344CB8AC3E}">
        <p14:creationId xmlns:p14="http://schemas.microsoft.com/office/powerpoint/2010/main" val="638624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BA8DDE-7BDD-4487-9562-951849E8D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03 / EXPERIÊNCIA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5E4448-0E5C-42FD-8EC6-21D66730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235"/>
                </a:solidFill>
                <a:latin typeface="Arial"/>
                <a:ea typeface="Arial"/>
                <a:cs typeface="Arial"/>
              </a:rPr>
              <a:t>Uma interface que continua útil quando a rede oscila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8FA9BE-D455-486A-9513-34640DF22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0C870F-EDAD-4EE4-A1DD-4825DB88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1819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FFD4F3-C296-4EC7-8392-6DAC73981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A experiência combina carregamento visível, formulários guiados e persistência local para reduzir ansiedade e retrabalho.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349B10-851D-4D25-BB83-D7706619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3381375" cy="2609850"/>
          </a:xfrm>
          <a:prstGeom xmlns:a="http://schemas.openxmlformats.org/drawingml/2006/main" prst="roundRect">
            <a:avLst>
              <a:gd name="adj" fmla="val 8759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BBD0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563EB"/>
                </a:solidFill>
                <a:latin typeface="Arial"/>
                <a:ea typeface="Arial"/>
                <a:cs typeface="Arial"/>
              </a:rPr>
              <a:t>WEB / TABLET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563EB"/>
                </a:solidFill>
                <a:latin typeface="Arial"/>
                <a:ea typeface="Arial"/>
                <a:cs typeface="Arial"/>
              </a:rPr>
              <a:t>• layout responsivo</a:t>
            </a:r>
          </a:p>
          <a:p xmlns:a="http://schemas.openxmlformats.org/drawingml/2006/main">
            <a:pPr>
              <a:defRPr sz="1500" b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563EB"/>
                </a:solidFill>
                <a:latin typeface="Arial"/>
                <a:ea typeface="Arial"/>
                <a:cs typeface="Arial"/>
              </a:rPr>
              <a:t>• botão primário evidente</a:t>
            </a:r>
          </a:p>
          <a:p xmlns:a="http://schemas.openxmlformats.org/drawingml/2006/main">
            <a:pPr>
              <a:defRPr sz="1500" b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563EB"/>
                </a:solidFill>
                <a:latin typeface="Arial"/>
                <a:ea typeface="Arial"/>
                <a:cs typeface="Arial"/>
              </a:rPr>
              <a:t>• loading por aba</a:t>
            </a:r>
          </a:p>
          <a:p xmlns:a="http://schemas.openxmlformats.org/drawingml/2006/main">
            <a:pPr>
              <a:defRPr sz="1500" b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563EB"/>
                </a:solidFill>
                <a:latin typeface="Arial"/>
                <a:ea typeface="Arial"/>
                <a:cs typeface="Arial"/>
              </a:rPr>
              <a:t>• feedback de sucesso e erro</a:t>
            </a:r>
          </a:p>
          <a:p xmlns:a="http://schemas.openxmlformats.org/drawingml/2006/main">
            <a:pPr>
              <a:defRPr sz="1500" b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563EB"/>
                </a:solidFill>
                <a:latin typeface="Arial"/>
                <a:ea typeface="Arial"/>
                <a:cs typeface="Arial"/>
              </a:rPr>
              <a:t>• ações acessíveis ao toque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E9E2D2-7026-45E4-B68B-DED73D5C1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81250"/>
            <a:ext cx="3381375" cy="2609850"/>
          </a:xfrm>
          <a:prstGeom xmlns:a="http://schemas.openxmlformats.org/drawingml/2006/main" prst="roundRect">
            <a:avLst>
              <a:gd name="adj" fmla="val 8759"/>
            </a:avLst>
          </a:prstGeom>
          <a:solidFill xmlns:a="http://schemas.openxmlformats.org/drawingml/2006/main">
            <a:srgbClr val="E6F7F5"/>
          </a:solidFill>
          <a:ln xmlns:a="http://schemas.openxmlformats.org/drawingml/2006/main" w="9525">
            <a:solidFill>
              <a:srgbClr val="A9E1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EA5A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EA5A4"/>
                </a:solidFill>
                <a:latin typeface="Arial"/>
                <a:ea typeface="Arial"/>
                <a:cs typeface="Arial"/>
              </a:rPr>
              <a:t>OUTBOX LOCAL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0EA5A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EA5A4"/>
                </a:solidFill>
                <a:latin typeface="Arial"/>
                <a:ea typeface="Arial"/>
                <a:cs typeface="Arial"/>
              </a:rPr>
              <a:t>1. usuário envia</a:t>
            </a:r>
          </a:p>
          <a:p xmlns:a="http://schemas.openxmlformats.org/drawingml/2006/main">
            <a:pPr>
              <a:defRPr sz="1500" b="0">
                <a:solidFill>
                  <a:srgbClr val="0EA5A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EA5A4"/>
                </a:solidFill>
                <a:latin typeface="Arial"/>
                <a:ea typeface="Arial"/>
                <a:cs typeface="Arial"/>
              </a:rPr>
              <a:t>2. IndexedDB guarda</a:t>
            </a:r>
          </a:p>
          <a:p xmlns:a="http://schemas.openxmlformats.org/drawingml/2006/main">
            <a:pPr>
              <a:defRPr sz="1500" b="0">
                <a:solidFill>
                  <a:srgbClr val="0EA5A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EA5A4"/>
                </a:solidFill>
                <a:latin typeface="Arial"/>
                <a:ea typeface="Arial"/>
                <a:cs typeface="Arial"/>
              </a:rPr>
              <a:t>3. interface sinaliza pendência</a:t>
            </a:r>
          </a:p>
          <a:p xmlns:a="http://schemas.openxmlformats.org/drawingml/2006/main">
            <a:pPr>
              <a:defRPr sz="1500" b="0">
                <a:solidFill>
                  <a:srgbClr val="0EA5A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EA5A4"/>
                </a:solidFill>
                <a:latin typeface="Arial"/>
                <a:ea typeface="Arial"/>
                <a:cs typeface="Arial"/>
              </a:rPr>
              <a:t>4. sincronizador tenta novamente</a:t>
            </a:r>
          </a:p>
          <a:p xmlns:a="http://schemas.openxmlformats.org/drawingml/2006/main">
            <a:pPr>
              <a:defRPr sz="1500" b="0">
                <a:solidFill>
                  <a:srgbClr val="0EA5A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EA5A4"/>
                </a:solidFill>
                <a:latin typeface="Arial"/>
                <a:ea typeface="Arial"/>
                <a:cs typeface="Arial"/>
              </a:rPr>
              <a:t>5. servidor confirma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90DBEC-5E24-47CE-A2CF-63DE15206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3381375" cy="2609850"/>
          </a:xfrm>
          <a:prstGeom xmlns:a="http://schemas.openxmlformats.org/drawingml/2006/main" prst="roundRect">
            <a:avLst>
              <a:gd name="adj" fmla="val 875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235"/>
                </a:solidFill>
                <a:latin typeface="Arial"/>
                <a:ea typeface="Arial"/>
                <a:cs typeface="Arial"/>
              </a:rPr>
              <a:t>VISIBILIDADE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235"/>
                </a:solidFill>
                <a:latin typeface="Arial"/>
                <a:ea typeface="Arial"/>
                <a:cs typeface="Arial"/>
              </a:rPr>
              <a:t>Conectado</a:t>
            </a:r>
          </a:p>
          <a:p xmlns:a="http://schemas.openxmlformats.org/drawingml/2006/main">
            <a:pPr>
              <a:defRPr sz="1500" b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235"/>
                </a:solidFill>
                <a:latin typeface="Arial"/>
                <a:ea typeface="Arial"/>
                <a:cs typeface="Arial"/>
              </a:rPr>
              <a:t>Pendente</a:t>
            </a:r>
          </a:p>
          <a:p xmlns:a="http://schemas.openxmlformats.org/drawingml/2006/main">
            <a:pPr>
              <a:defRPr sz="1500" b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235"/>
                </a:solidFill>
                <a:latin typeface="Arial"/>
                <a:ea typeface="Arial"/>
                <a:cs typeface="Arial"/>
              </a:rPr>
              <a:t>Sincronizando</a:t>
            </a:r>
          </a:p>
          <a:p xmlns:a="http://schemas.openxmlformats.org/drawingml/2006/main">
            <a:pPr>
              <a:defRPr sz="1500" b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235"/>
                </a:solidFill>
                <a:latin typeface="Arial"/>
                <a:ea typeface="Arial"/>
                <a:cs typeface="Arial"/>
              </a:rPr>
              <a:t>Sincronizado</a:t>
            </a:r>
          </a:p>
          <a:p xmlns:a="http://schemas.openxmlformats.org/drawingml/2006/main">
            <a:pPr>
              <a:defRPr sz="1500" b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235"/>
                </a:solidFill>
                <a:latin typeface="Arial"/>
                <a:ea typeface="Arial"/>
                <a:cs typeface="Arial"/>
              </a:rPr>
              <a:t>Falha para reprocessar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C57280-6DFF-4682-9B50-879225E99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54330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D99471-B0B3-479F-9E98-05EF90FA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54330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F4DC13-1221-44F3-A7E7-5943A8A51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1975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235"/>
                </a:solidFill>
                <a:latin typeface="Arial"/>
                <a:ea typeface="Arial"/>
                <a:cs typeface="Arial"/>
              </a:rPr>
              <a:t>Regra de ouro: o usuário sempre sabe onde o dado está e qual é o próximo passo.</a:t>
            </a:r>
          </a:p>
        </p:txBody>
      </p:sp>
    </p:spTree>
    <p:extLst>
      <p:ext uri="{BB962C8B-B14F-4D97-AF65-F5344CB8AC3E}">
        <p14:creationId xmlns:p14="http://schemas.microsoft.com/office/powerpoint/2010/main" val="6821950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CBFC6B-818E-4E67-8567-948250365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04 / ARQUITETURA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7E2E85-FBA0-421E-9A15-47736B94C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235"/>
                </a:solidFill>
                <a:latin typeface="Arial"/>
                <a:ea typeface="Arial"/>
                <a:cs typeface="Arial"/>
              </a:rPr>
              <a:t>Backend modular, sem amarrar o futuro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E606BE-2B21-4CC1-AE7E-4B12BA98F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83D220-352C-42FB-AA05-484C8DB7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1819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C5AF44-3B53-4A5B-87B9-F2766EBD2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O PHP continua responsável pela aplicação transacional; integrações e uma futura camada de IA entram como serviços bem delimitados.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1D18E3-4712-4D4C-818B-4D851F85B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9050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BBD0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BROWSER</a:t>
            </a:r>
          </a:p>
          <a:p xmlns:a="http://schemas.openxmlformats.org/drawingml/2006/main">
            <a:pPr>
              <a:defRPr sz="14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Bootstrap + Alpine</a:t>
            </a:r>
          </a:p>
          <a:p xmlns:a="http://schemas.openxmlformats.org/drawingml/2006/main">
            <a:pPr>
              <a:defRPr sz="14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IndexedDB outbox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EDBC92-E1BF-4DE5-A98E-C274A50BE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809875"/>
            <a:ext cx="4953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319FA4-6721-4BE6-977A-1C7AE8106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81250"/>
            <a:ext cx="19050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2235"/>
                </a:solidFill>
                <a:latin typeface="Arial"/>
                <a:ea typeface="Arial"/>
                <a:cs typeface="Arial"/>
              </a:rPr>
              <a:t>HTTP / API</a:t>
            </a:r>
          </a:p>
          <a:p xmlns:a="http://schemas.openxmlformats.org/drawingml/2006/main">
            <a:pPr>
              <a:defRPr sz="1425" b="1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2235"/>
                </a:solidFill>
                <a:latin typeface="Arial"/>
                <a:ea typeface="Arial"/>
                <a:cs typeface="Arial"/>
              </a:rPr>
              <a:t>routes.php</a:t>
            </a:r>
          </a:p>
          <a:p xmlns:a="http://schemas.openxmlformats.org/drawingml/2006/main">
            <a:pPr>
              <a:defRPr sz="1425" b="1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2235"/>
                </a:solidFill>
                <a:latin typeface="Arial"/>
                <a:ea typeface="Arial"/>
                <a:cs typeface="Arial"/>
              </a:rPr>
              <a:t>CSRF + sessão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3E50EC-0CA3-4256-8880-F2E058863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809875"/>
            <a:ext cx="4953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8D4763-EF36-420C-8568-BDBDCCD83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90750"/>
            <a:ext cx="2095500" cy="1447800"/>
          </a:xfrm>
          <a:prstGeom xmlns:a="http://schemas.openxmlformats.org/drawingml/2006/main" prst="roundRect">
            <a:avLst>
              <a:gd name="adj" fmla="val 11842"/>
            </a:avLst>
          </a:prstGeom>
          <a:solidFill xmlns:a="http://schemas.openxmlformats.org/drawingml/2006/main">
            <a:srgbClr val="E6F7F5"/>
          </a:solidFill>
          <a:ln xmlns:a="http://schemas.openxmlformats.org/drawingml/2006/main" w="9525">
            <a:solidFill>
              <a:srgbClr val="A9E1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A5A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A5A4"/>
                </a:solidFill>
                <a:latin typeface="Arial"/>
                <a:ea typeface="Arial"/>
                <a:cs typeface="Arial"/>
              </a:rPr>
              <a:t>SERVIÇOS</a:t>
            </a:r>
          </a:p>
          <a:p xmlns:a="http://schemas.openxmlformats.org/drawingml/2006/main">
            <a:pPr>
              <a:defRPr sz="1350" b="1">
                <a:solidFill>
                  <a:srgbClr val="0EA5A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A5A4"/>
                </a:solidFill>
                <a:latin typeface="Arial"/>
                <a:ea typeface="Arial"/>
                <a:cs typeface="Arial"/>
              </a:rPr>
              <a:t>RequestService</a:t>
            </a:r>
          </a:p>
          <a:p xmlns:a="http://schemas.openxmlformats.org/drawingml/2006/main">
            <a:pPr>
              <a:defRPr sz="1350" b="1">
                <a:solidFill>
                  <a:srgbClr val="0EA5A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A5A4"/>
                </a:solidFill>
                <a:latin typeface="Arial"/>
                <a:ea typeface="Arial"/>
                <a:cs typeface="Arial"/>
              </a:rPr>
              <a:t>LecomService</a:t>
            </a:r>
          </a:p>
          <a:p xmlns:a="http://schemas.openxmlformats.org/drawingml/2006/main">
            <a:pPr>
              <a:defRPr sz="1350" b="1">
                <a:solidFill>
                  <a:srgbClr val="0EA5A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A5A4"/>
                </a:solidFill>
                <a:latin typeface="Arial"/>
                <a:ea typeface="Arial"/>
                <a:cs typeface="Arial"/>
              </a:rPr>
              <a:t>Mailer / fila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ADBD70-0EAE-403D-9560-0433B88A3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09875"/>
            <a:ext cx="4953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4D814D-52BE-471A-B64E-112BAA8C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381250"/>
            <a:ext cx="20955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E6F5EE"/>
          </a:solidFill>
          <a:ln xmlns:a="http://schemas.openxmlformats.org/drawingml/2006/main" w="9525">
            <a:solidFill>
              <a:srgbClr val="A8DEC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805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805B"/>
                </a:solidFill>
                <a:latin typeface="Arial"/>
                <a:ea typeface="Arial"/>
                <a:cs typeface="Arial"/>
              </a:rPr>
              <a:t>DADOS</a:t>
            </a:r>
          </a:p>
          <a:p xmlns:a="http://schemas.openxmlformats.org/drawingml/2006/main">
            <a:pPr>
              <a:defRPr sz="1350" b="1">
                <a:solidFill>
                  <a:srgbClr val="16805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805B"/>
                </a:solidFill>
                <a:latin typeface="Arial"/>
                <a:ea typeface="Arial"/>
                <a:cs typeface="Arial"/>
              </a:rPr>
              <a:t>MySQL / MariaDB</a:t>
            </a:r>
          </a:p>
          <a:p xmlns:a="http://schemas.openxmlformats.org/drawingml/2006/main">
            <a:pPr>
              <a:defRPr sz="1350" b="1">
                <a:solidFill>
                  <a:srgbClr val="16805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805B"/>
                </a:solidFill>
                <a:latin typeface="Arial"/>
                <a:ea typeface="Arial"/>
                <a:cs typeface="Arial"/>
              </a:rPr>
              <a:t>SQLite demo</a:t>
            </a:r>
          </a:p>
          <a:p xmlns:a="http://schemas.openxmlformats.org/drawingml/2006/main">
            <a:pPr>
              <a:defRPr sz="1350" b="1">
                <a:solidFill>
                  <a:srgbClr val="16805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805B"/>
                </a:solidFill>
                <a:latin typeface="Arial"/>
                <a:ea typeface="Arial"/>
                <a:cs typeface="Arial"/>
              </a:rPr>
              <a:t>JSON mirror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F0B3AC-C9E4-4493-BDEB-E3419C9D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76750"/>
            <a:ext cx="28575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424"/>
          </a:solidFill>
          <a:ln xmlns:a="http://schemas.openxmlformats.org/drawingml/2006/main" w="9525">
            <a:solidFill>
              <a:srgbClr val="0B142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Integrações externas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E3EA2F-0823-40E2-93A8-78AA4DBBC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638550"/>
            <a:ext cx="0" cy="838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1819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9D318B-B149-496D-AB5F-BE547FED4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314950"/>
            <a:ext cx="2667000" cy="666750"/>
          </a:xfrm>
          <a:prstGeom xmlns:a="http://schemas.openxmlformats.org/drawingml/2006/main" prst="roundRect">
            <a:avLst>
              <a:gd name="adj" fmla="val 2571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235"/>
                </a:solidFill>
                <a:latin typeface="Arial"/>
                <a:ea typeface="Arial"/>
                <a:cs typeface="Arial"/>
              </a:rPr>
              <a:t>Lecom BPM</a:t>
            </a:r>
          </a:p>
          <a:p xmlns:a="http://schemas.openxmlformats.org/drawingml/2006/main">
            <a:pPr>
              <a:defRPr sz="1275" b="1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235"/>
                </a:solidFill>
                <a:latin typeface="Arial"/>
                <a:ea typeface="Arial"/>
                <a:cs typeface="Arial"/>
              </a:rPr>
              <a:t>SSO / API de processo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DBCEEE-D1A1-4938-B9C5-E2667F218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314950"/>
            <a:ext cx="2667000" cy="666750"/>
          </a:xfrm>
          <a:prstGeom xmlns:a="http://schemas.openxmlformats.org/drawingml/2006/main" prst="roundRect">
            <a:avLst>
              <a:gd name="adj" fmla="val 2571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235"/>
                </a:solidFill>
                <a:latin typeface="Arial"/>
                <a:ea typeface="Arial"/>
                <a:cs typeface="Arial"/>
              </a:rPr>
              <a:t>Microsoft 365</a:t>
            </a:r>
          </a:p>
          <a:p xmlns:a="http://schemas.openxmlformats.org/drawingml/2006/main">
            <a:pPr>
              <a:defRPr sz="1275" b="1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235"/>
                </a:solidFill>
                <a:latin typeface="Arial"/>
                <a:ea typeface="Arial"/>
                <a:cs typeface="Arial"/>
              </a:rPr>
              <a:t>SMTP / OAuth / Graph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058155-0AA6-4511-804C-B0DCE8D8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95850"/>
            <a:ext cx="209550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1819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B6F7D9-0671-4826-A8DD-3C586F4B6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95850"/>
            <a:ext cx="209550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1819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849028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9BAD59-CAD1-4FC6-A7AB-8CAD3353C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05 / LECOM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452A29-A2A6-4E6B-9A45-0B34A6BC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235"/>
                </a:solidFill>
                <a:latin typeface="Arial"/>
                <a:ea typeface="Arial"/>
                <a:cs typeface="Arial"/>
              </a:rPr>
              <a:t>Abertura de instância com SSO e fallback controlado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F904FF-7A8D-4CBE-BA8F-10A84D170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F60AB7-9BD4-4B25-A6F1-66DF9794E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1819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693959-0F81-4B0F-BFB7-FF420ECAF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O fluxo de homologação tenta preservar o ticket do ambiente do usuário e mantém uma rota server-side para o caso de bloqueio do navegador.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32927A-263F-4D8D-A6B4-2C69C929E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2000250" cy="1047750"/>
          </a:xfrm>
          <a:prstGeom xmlns:a="http://schemas.openxmlformats.org/drawingml/2006/main" prst="roundRect">
            <a:avLst>
              <a:gd name="adj" fmla="val 16364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BBD0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USUÁRIO</a:t>
            </a:r>
          </a:p>
          <a:p xmlns:a="http://schemas.openxmlformats.org/drawingml/2006/main">
            <a:pPr>
              <a:defRPr sz="14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abre Nova solicitação</a:t>
            </a:r>
          </a:p>
          <a:p xmlns:a="http://schemas.openxmlformats.org/drawingml/2006/main">
            <a:pPr>
              <a:defRPr sz="14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e clica no botão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ABC855-C18E-402D-BF4E-203BA9753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076575"/>
            <a:ext cx="4572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F9A1AC-0EB9-41D8-AF5D-15EA92F70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400300"/>
            <a:ext cx="2476500" cy="16002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6F7F5"/>
          </a:solidFill>
          <a:ln xmlns:a="http://schemas.openxmlformats.org/drawingml/2006/main" w="9525">
            <a:solidFill>
              <a:srgbClr val="A9E1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A5A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A5A4"/>
                </a:solidFill>
                <a:latin typeface="Arial"/>
                <a:ea typeface="Arial"/>
                <a:cs typeface="Arial"/>
              </a:rPr>
              <a:t>BROWSER</a:t>
            </a:r>
          </a:p>
          <a:p xmlns:a="http://schemas.openxmlformats.org/drawingml/2006/main">
            <a:pPr>
              <a:defRPr sz="1350" b="1">
                <a:solidFill>
                  <a:srgbClr val="0EA5A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A5A4"/>
                </a:solidFill>
                <a:latin typeface="Arial"/>
                <a:ea typeface="Arial"/>
                <a:cs typeface="Arial"/>
              </a:rPr>
              <a:t>LecomSSOTicket</a:t>
            </a:r>
          </a:p>
          <a:p xmlns:a="http://schemas.openxmlformats.org/drawingml/2006/main">
            <a:pPr>
              <a:defRPr sz="1350" b="1">
                <a:solidFill>
                  <a:srgbClr val="0EA5A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A5A4"/>
                </a:solidFill>
                <a:latin typeface="Arial"/>
                <a:ea typeface="Arial"/>
                <a:cs typeface="Arial"/>
              </a:rPr>
              <a:t>PUT /workspace/api/process/start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B134BD-2AAF-47A5-84E2-EA3D327C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76575"/>
            <a:ext cx="4572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CD96AD-8476-4A0F-959A-DD2842BC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67000"/>
            <a:ext cx="2000250" cy="1047750"/>
          </a:xfrm>
          <a:prstGeom xmlns:a="http://schemas.openxmlformats.org/drawingml/2006/main" prst="roundRect">
            <a:avLst>
              <a:gd name="adj" fmla="val 16364"/>
            </a:avLst>
          </a:prstGeom>
          <a:solidFill xmlns:a="http://schemas.openxmlformats.org/drawingml/2006/main">
            <a:srgbClr val="E6F5EE"/>
          </a:solidFill>
          <a:ln xmlns:a="http://schemas.openxmlformats.org/drawingml/2006/main" w="9525">
            <a:solidFill>
              <a:srgbClr val="A8DEC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805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805B"/>
                </a:solidFill>
                <a:latin typeface="Arial"/>
                <a:ea typeface="Arial"/>
                <a:cs typeface="Arial"/>
              </a:rPr>
              <a:t>LECOM</a:t>
            </a:r>
          </a:p>
          <a:p xmlns:a="http://schemas.openxmlformats.org/drawingml/2006/main">
            <a:pPr>
              <a:defRPr sz="1500" b="1">
                <a:solidFill>
                  <a:srgbClr val="16805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805B"/>
                </a:solidFill>
                <a:latin typeface="Arial"/>
                <a:ea typeface="Arial"/>
                <a:cs typeface="Arial"/>
              </a:rPr>
              <a:t>processo 26</a:t>
            </a:r>
          </a:p>
          <a:p xmlns:a="http://schemas.openxmlformats.org/drawingml/2006/main">
            <a:pPr>
              <a:defRPr sz="1500" b="1">
                <a:solidFill>
                  <a:srgbClr val="16805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805B"/>
                </a:solidFill>
                <a:latin typeface="Arial"/>
                <a:ea typeface="Arial"/>
                <a:cs typeface="Arial"/>
              </a:rPr>
              <a:t>versão 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CFE12C-E328-4F7D-A926-BFB895F92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000500"/>
            <a:ext cx="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1819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32B702-EE37-4271-821A-33D84926A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857750"/>
            <a:ext cx="61912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F1CF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FALLBACK SERVER-SIDE</a:t>
            </a:r>
          </a:p>
          <a:p xmlns:a="http://schemas.openxmlformats.org/drawingml/2006/main">
            <a:pPr>
              <a:defRPr sz="13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POST /api/lecom/process/start</a:t>
            </a:r>
          </a:p>
          <a:p xmlns:a="http://schemas.openxmlformats.org/drawingml/2006/main">
            <a:pPr>
              <a:defRPr sz="13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credenciais apenas no servidor</a:t>
            </a:r>
          </a:p>
          <a:p xmlns:a="http://schemas.openxmlformats.org/drawingml/2006/main">
            <a:pPr>
              <a:defRPr sz="13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modo de teste isolado por variável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E70BC2-ABB2-4AB0-9817-6C9FC88E0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1912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18198"/>
                </a:solidFill>
                <a:latin typeface="Arial"/>
                <a:ea typeface="Arial"/>
                <a:cs typeface="Arial"/>
              </a:rPr>
              <a:t>Segurança: nenhuma API key ou ticket deve ser gravado na apresentação, no Git ou no navegador além do cookie já emitido pelo Lecom.</a:t>
            </a:r>
          </a:p>
        </p:txBody>
      </p:sp>
    </p:spTree>
    <p:extLst>
      <p:ext uri="{BB962C8B-B14F-4D97-AF65-F5344CB8AC3E}">
        <p14:creationId xmlns:p14="http://schemas.microsoft.com/office/powerpoint/2010/main" val="2867706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7A3AC3-6160-40F8-BCAF-BE4B2CDC4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06 / GOVERNANÇA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EC7ECE-9860-4578-A1AB-14CEBBDD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235"/>
                </a:solidFill>
                <a:latin typeface="Arial"/>
                <a:ea typeface="Arial"/>
                <a:cs typeface="Arial"/>
              </a:rPr>
              <a:t>Dados rastreáveis e acesso proporcional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8A7CD5-8D86-4983-AB39-08FD5236B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991F9C-A21B-41E8-8B76-A2C3BDC22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1819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8752E9-195E-4FAD-ABB6-0FFDCC367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2333625" cy="2667000"/>
          </a:xfrm>
          <a:prstGeom xmlns:a="http://schemas.openxmlformats.org/drawingml/2006/main" prst="roundRect">
            <a:avLst>
              <a:gd name="adj" fmla="val 898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235"/>
                </a:solidFill>
                <a:latin typeface="Arial"/>
                <a:ea typeface="Arial"/>
                <a:cs typeface="Arial"/>
              </a:rPr>
              <a:t>PERFIS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235"/>
                </a:solidFill>
                <a:latin typeface="Arial"/>
                <a:ea typeface="Arial"/>
                <a:cs typeface="Arial"/>
              </a:rPr>
              <a:t>Solicitante</a:t>
            </a:r>
          </a:p>
          <a:p xmlns:a="http://schemas.openxmlformats.org/drawingml/2006/main">
            <a:pPr>
              <a:defRPr sz="1575" b="1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235"/>
                </a:solidFill>
                <a:latin typeface="Arial"/>
                <a:ea typeface="Arial"/>
                <a:cs typeface="Arial"/>
              </a:rPr>
              <a:t>Aprovador</a:t>
            </a:r>
          </a:p>
          <a:p xmlns:a="http://schemas.openxmlformats.org/drawingml/2006/main">
            <a:pPr>
              <a:defRPr sz="1575" b="1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235"/>
                </a:solidFill>
                <a:latin typeface="Arial"/>
                <a:ea typeface="Arial"/>
                <a:cs typeface="Arial"/>
              </a:rPr>
              <a:t>Operação</a:t>
            </a:r>
          </a:p>
          <a:p xmlns:a="http://schemas.openxmlformats.org/drawingml/2006/main">
            <a:pPr>
              <a:defRPr sz="1575" b="1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235"/>
                </a:solidFill>
                <a:latin typeface="Arial"/>
                <a:ea typeface="Arial"/>
                <a:cs typeface="Arial"/>
              </a:rPr>
              <a:t>Administrador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41146E-CBBD-4749-B67B-B48AA121A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90750"/>
            <a:ext cx="2524125" cy="2667000"/>
          </a:xfrm>
          <a:prstGeom xmlns:a="http://schemas.openxmlformats.org/drawingml/2006/main" prst="roundRect">
            <a:avLst>
              <a:gd name="adj" fmla="val 8302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BBD0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REGISTRO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Solicitação</a:t>
            </a:r>
          </a:p>
          <a:p xmlns:a="http://schemas.openxmlformats.org/drawingml/2006/main">
            <a:pPr>
              <a:defRPr sz="15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Itens / brindes</a:t>
            </a:r>
          </a:p>
          <a:p xmlns:a="http://schemas.openxmlformats.org/drawingml/2006/main">
            <a:pPr>
              <a:defRPr sz="15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Histórico de status</a:t>
            </a:r>
          </a:p>
          <a:p xmlns:a="http://schemas.openxmlformats.org/drawingml/2006/main">
            <a:pPr>
              <a:defRPr sz="15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Anexos</a:t>
            </a:r>
          </a:p>
          <a:p xmlns:a="http://schemas.openxmlformats.org/drawingml/2006/main">
            <a:pPr>
              <a:defRPr sz="15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Fila de notificações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D5D6B3-29F6-4356-A492-95BD3827D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90750"/>
            <a:ext cx="2524125" cy="2667000"/>
          </a:xfrm>
          <a:prstGeom xmlns:a="http://schemas.openxmlformats.org/drawingml/2006/main" prst="roundRect">
            <a:avLst>
              <a:gd name="adj" fmla="val 8302"/>
            </a:avLst>
          </a:prstGeom>
          <a:solidFill xmlns:a="http://schemas.openxmlformats.org/drawingml/2006/main">
            <a:srgbClr val="E6F7F5"/>
          </a:solidFill>
          <a:ln xmlns:a="http://schemas.openxmlformats.org/drawingml/2006/main" w="9525">
            <a:solidFill>
              <a:srgbClr val="A9E1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EA5A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EA5A4"/>
                </a:solidFill>
                <a:latin typeface="Arial"/>
                <a:ea typeface="Arial"/>
                <a:cs typeface="Arial"/>
              </a:rPr>
              <a:t>CONTROLES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0EA5A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EA5A4"/>
                </a:solidFill>
                <a:latin typeface="Arial"/>
                <a:ea typeface="Arial"/>
                <a:cs typeface="Arial"/>
              </a:rPr>
              <a:t>Sessão + CSRF</a:t>
            </a:r>
          </a:p>
          <a:p xmlns:a="http://schemas.openxmlformats.org/drawingml/2006/main">
            <a:pPr>
              <a:defRPr sz="1575" b="1">
                <a:solidFill>
                  <a:srgbClr val="0EA5A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EA5A4"/>
                </a:solidFill>
                <a:latin typeface="Arial"/>
                <a:ea typeface="Arial"/>
                <a:cs typeface="Arial"/>
              </a:rPr>
              <a:t>Autorização por rota</a:t>
            </a:r>
          </a:p>
          <a:p xmlns:a="http://schemas.openxmlformats.org/drawingml/2006/main">
            <a:pPr>
              <a:defRPr sz="1575" b="1">
                <a:solidFill>
                  <a:srgbClr val="0EA5A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EA5A4"/>
                </a:solidFill>
                <a:latin typeface="Arial"/>
                <a:ea typeface="Arial"/>
                <a:cs typeface="Arial"/>
              </a:rPr>
              <a:t>Validação de entrada</a:t>
            </a:r>
          </a:p>
          <a:p xmlns:a="http://schemas.openxmlformats.org/drawingml/2006/main">
            <a:pPr>
              <a:defRPr sz="1575" b="1">
                <a:solidFill>
                  <a:srgbClr val="0EA5A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EA5A4"/>
                </a:solidFill>
                <a:latin typeface="Arial"/>
                <a:ea typeface="Arial"/>
                <a:cs typeface="Arial"/>
              </a:rPr>
              <a:t>Logs sem segredos</a:t>
            </a:r>
          </a:p>
          <a:p xmlns:a="http://schemas.openxmlformats.org/drawingml/2006/main">
            <a:pPr>
              <a:defRPr sz="1575" b="1">
                <a:solidFill>
                  <a:srgbClr val="0EA5A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EA5A4"/>
                </a:solidFill>
                <a:latin typeface="Arial"/>
                <a:ea typeface="Arial"/>
                <a:cs typeface="Arial"/>
              </a:rPr>
              <a:t>Retry idempotente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5B8339-50AA-4373-88F8-959E95D18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190750"/>
            <a:ext cx="2133600" cy="2667000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rgbClr val="E6F5EE"/>
          </a:solidFill>
          <a:ln xmlns:a="http://schemas.openxmlformats.org/drawingml/2006/main" w="9525">
            <a:solidFill>
              <a:srgbClr val="A8DEC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805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805B"/>
                </a:solidFill>
                <a:latin typeface="Arial"/>
                <a:ea typeface="Arial"/>
                <a:cs typeface="Arial"/>
              </a:rPr>
              <a:t>FONTES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1">
                <a:solidFill>
                  <a:srgbClr val="16805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805B"/>
                </a:solidFill>
                <a:latin typeface="Arial"/>
                <a:ea typeface="Arial"/>
                <a:cs typeface="Arial"/>
              </a:rPr>
              <a:t>MySQL/MariaDB</a:t>
            </a:r>
          </a:p>
          <a:p xmlns:a="http://schemas.openxmlformats.org/drawingml/2006/main">
            <a:pPr>
              <a:defRPr sz="1500" b="1">
                <a:solidFill>
                  <a:srgbClr val="16805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805B"/>
                </a:solidFill>
                <a:latin typeface="Arial"/>
                <a:ea typeface="Arial"/>
                <a:cs typeface="Arial"/>
              </a:rPr>
              <a:t>SQLite para demo</a:t>
            </a:r>
          </a:p>
          <a:p xmlns:a="http://schemas.openxmlformats.org/drawingml/2006/main">
            <a:pPr>
              <a:defRPr sz="1500" b="1">
                <a:solidFill>
                  <a:srgbClr val="16805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805B"/>
                </a:solidFill>
                <a:latin typeface="Arial"/>
                <a:ea typeface="Arial"/>
                <a:cs typeface="Arial"/>
              </a:rPr>
              <a:t>IndexedDB offline</a:t>
            </a:r>
          </a:p>
          <a:p xmlns:a="http://schemas.openxmlformats.org/drawingml/2006/main">
            <a:pPr>
              <a:defRPr sz="1500" b="1">
                <a:solidFill>
                  <a:srgbClr val="16805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805B"/>
                </a:solidFill>
                <a:latin typeface="Arial"/>
                <a:ea typeface="Arial"/>
                <a:cs typeface="Arial"/>
              </a:rPr>
              <a:t>Blob para artefatos</a:t>
            </a:r>
          </a:p>
          <a:p xmlns:a="http://schemas.openxmlformats.org/drawingml/2006/main">
            <a:pPr>
              <a:defRPr sz="1500" b="1">
                <a:solidFill>
                  <a:srgbClr val="16805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805B"/>
                </a:solidFill>
                <a:latin typeface="Arial"/>
                <a:ea typeface="Arial"/>
                <a:cs typeface="Arial"/>
              </a:rPr>
              <a:t>JSON como espelho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5C30D2-46AB-45B2-B1B6-0D7ECF927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1975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235"/>
                </a:solidFill>
                <a:latin typeface="Arial"/>
                <a:ea typeface="Arial"/>
                <a:cs typeface="Arial"/>
              </a:rPr>
              <a:t>Princípio: a aplicação não usa o cliente offline como fonte definitiva; a confirmação do servidor vence a sincronização local.</a:t>
            </a:r>
          </a:p>
        </p:txBody>
      </p:sp>
    </p:spTree>
    <p:extLst>
      <p:ext uri="{BB962C8B-B14F-4D97-AF65-F5344CB8AC3E}">
        <p14:creationId xmlns:p14="http://schemas.microsoft.com/office/powerpoint/2010/main" val="16123525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F27CD3-B69C-4848-86C1-B7EC46194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07 / ATENÇÃO OPERACIONAL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14FF20-867B-4957-BC76-6F1D3181F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235"/>
                </a:solidFill>
                <a:latin typeface="Arial"/>
                <a:ea typeface="Arial"/>
                <a:cs typeface="Arial"/>
              </a:rPr>
              <a:t>E-mail: o código está pronto, a conta ainda precisa ser autorizada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C479DC-E704-411A-8C33-05B1A36B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D59727-9F85-45D3-8D53-57936F9BB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1819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8E773E-E0EF-48E1-AE17-56352DA9A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A aplicação já possui PHPMailer e fila de notificações. O envio real depende da decisão e configuração do Microsoft 365 da empresa.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65AC6B-895A-48DB-9311-F5A711961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4857750" cy="2762250"/>
          </a:xfrm>
          <a:prstGeom xmlns:a="http://schemas.openxmlformats.org/drawingml/2006/main" prst="roundRect">
            <a:avLst>
              <a:gd name="adj" fmla="val 7586"/>
            </a:avLst>
          </a:prstGeom>
          <a:solidFill xmlns:a="http://schemas.openxmlformats.org/drawingml/2006/main">
            <a:srgbClr val="E6F5EE"/>
          </a:solidFill>
          <a:ln xmlns:a="http://schemas.openxmlformats.org/drawingml/2006/main" w="9525">
            <a:solidFill>
              <a:srgbClr val="A8DEC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6805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805B"/>
                </a:solidFill>
                <a:latin typeface="Arial"/>
                <a:ea typeface="Arial"/>
                <a:cs typeface="Arial"/>
              </a:rPr>
              <a:t>JÁ IMPLEMENTADO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6805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805B"/>
                </a:solidFill>
                <a:latin typeface="Arial"/>
                <a:ea typeface="Arial"/>
                <a:cs typeface="Arial"/>
              </a:rPr>
              <a:t>PHPMailer</a:t>
            </a:r>
          </a:p>
          <a:p xmlns:a="http://schemas.openxmlformats.org/drawingml/2006/main">
            <a:pPr>
              <a:defRPr sz="1500" b="0">
                <a:solidFill>
                  <a:srgbClr val="16805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805B"/>
                </a:solidFill>
                <a:latin typeface="Arial"/>
                <a:ea typeface="Arial"/>
                <a:cs typeface="Arial"/>
              </a:rPr>
              <a:t>variáveis MAIL_*</a:t>
            </a:r>
          </a:p>
          <a:p xmlns:a="http://schemas.openxmlformats.org/drawingml/2006/main">
            <a:pPr>
              <a:defRPr sz="1500" b="0">
                <a:solidFill>
                  <a:srgbClr val="16805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805B"/>
                </a:solidFill>
                <a:latin typeface="Arial"/>
                <a:ea typeface="Arial"/>
                <a:cs typeface="Arial"/>
              </a:rPr>
              <a:t>notificação ao solicitante</a:t>
            </a:r>
          </a:p>
          <a:p xmlns:a="http://schemas.openxmlformats.org/drawingml/2006/main">
            <a:pPr>
              <a:defRPr sz="1500" b="0">
                <a:solidFill>
                  <a:srgbClr val="16805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805B"/>
                </a:solidFill>
                <a:latin typeface="Arial"/>
                <a:ea typeface="Arial"/>
                <a:cs typeface="Arial"/>
              </a:rPr>
              <a:t>fila cron/send_notifications.php</a:t>
            </a:r>
          </a:p>
          <a:p xmlns:a="http://schemas.openxmlformats.org/drawingml/2006/main">
            <a:pPr>
              <a:defRPr sz="1500" b="0">
                <a:solidFill>
                  <a:srgbClr val="16805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805B"/>
                </a:solidFill>
                <a:latin typeface="Arial"/>
                <a:ea typeface="Arial"/>
                <a:cs typeface="Arial"/>
              </a:rPr>
              <a:t>registro de sucesso/falha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88A0A0-638C-4DA6-92E4-FF8BF514A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324100"/>
            <a:ext cx="4857750" cy="2762250"/>
          </a:xfrm>
          <a:prstGeom xmlns:a="http://schemas.openxmlformats.org/drawingml/2006/main" prst="roundRect">
            <a:avLst>
              <a:gd name="adj" fmla="val 7586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F1CF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97706"/>
                </a:solidFill>
                <a:latin typeface="Arial"/>
                <a:ea typeface="Arial"/>
                <a:cs typeface="Arial"/>
              </a:rPr>
              <a:t>AINDA FALTA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97706"/>
                </a:solidFill>
                <a:latin typeface="Arial"/>
                <a:ea typeface="Arial"/>
                <a:cs typeface="Arial"/>
              </a:rPr>
              <a:t>1. criar/definir uma caixa técnica</a:t>
            </a:r>
          </a:p>
          <a:p xmlns:a="http://schemas.openxmlformats.org/drawingml/2006/main">
            <a:pPr>
              <a:defRPr sz="1425" b="0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97706"/>
                </a:solidFill>
                <a:latin typeface="Arial"/>
                <a:ea typeface="Arial"/>
                <a:cs typeface="Arial"/>
              </a:rPr>
              <a:t>2. TI decidir SMTP AUTH ou OAuth/Graph</a:t>
            </a:r>
          </a:p>
          <a:p xmlns:a="http://schemas.openxmlformats.org/drawingml/2006/main">
            <a:pPr>
              <a:defRPr sz="1425" b="0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97706"/>
                </a:solidFill>
                <a:latin typeface="Arial"/>
                <a:ea typeface="Arial"/>
                <a:cs typeface="Arial"/>
              </a:rPr>
              <a:t>3. liberar smtp.office365.com:587 + STARTTLS</a:t>
            </a:r>
          </a:p>
          <a:p xmlns:a="http://schemas.openxmlformats.org/drawingml/2006/main">
            <a:pPr>
              <a:defRPr sz="1425" b="0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97706"/>
                </a:solidFill>
                <a:latin typeface="Arial"/>
                <a:ea typeface="Arial"/>
                <a:cs typeface="Arial"/>
              </a:rPr>
              <a:t>4. cadastrar segredos no ambiente</a:t>
            </a:r>
          </a:p>
          <a:p xmlns:a="http://schemas.openxmlformats.org/drawingml/2006/main">
            <a:pPr>
              <a:defRPr sz="1425" b="0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97706"/>
                </a:solidFill>
                <a:latin typeface="Arial"/>
                <a:ea typeface="Arial"/>
                <a:cs typeface="Arial"/>
              </a:rPr>
              <a:t>5. validar Send As e agendamento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3A749A-EF51-4CC0-BDC7-CE112BBA2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391150"/>
            <a:ext cx="8858250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0B1424"/>
          </a:solidFill>
          <a:ln xmlns:a="http://schemas.openxmlformats.org/drawingml/2006/main" w="9525">
            <a:solidFill>
              <a:srgbClr val="0B142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Padrão SMTP a confirmar</a:t>
            </a:r>
          </a:p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MAIL_HOST=smtp.office365.com  •  MAIL_PORT=587  •  MAIL_ENCRYPTION=tls</a:t>
            </a:r>
          </a:p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Nunca versionar MAIL_PASSWORD ou tokens.</a:t>
            </a:r>
          </a:p>
        </p:txBody>
      </p:sp>
    </p:spTree>
    <p:extLst>
      <p:ext uri="{BB962C8B-B14F-4D97-AF65-F5344CB8AC3E}">
        <p14:creationId xmlns:p14="http://schemas.microsoft.com/office/powerpoint/2010/main" val="8240935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6BE2BF-BF5D-4F5B-B953-34FB61F2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08 / EXECUÇÃO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DA0E81-0BB9-423A-8A4B-4390A9CA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235"/>
                </a:solidFill>
                <a:latin typeface="Arial"/>
                <a:ea typeface="Arial"/>
                <a:cs typeface="Arial"/>
              </a:rPr>
              <a:t>Roadmap para sair do protótipo com segurança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E241EB-043B-43F5-8BAE-529BD0882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B8DFC5-F460-4E75-A008-4E3204ADB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1819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278160-6BE7-4362-9234-0A08974C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Cada fase entrega valor observável e reduz um risco operacional antes da próxima expansão.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B59B7B-5CFA-445B-9E06-AE7F8BA2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962150" cy="2095500"/>
          </a:xfrm>
          <a:prstGeom xmlns:a="http://schemas.openxmlformats.org/drawingml/2006/main" prst="roundRect">
            <a:avLst>
              <a:gd name="adj" fmla="val 9709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</a:t>
            </a:r>
          </a:p>
          <a:p xmlns:a="http://schemas.openxmlformats.org/drawingml/2006/main">
            <a:pPr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Fechar base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documentação</a:t>
            </a:r>
          </a:p>
          <a:p xmlns:a="http://schemas.openxmlformats.org/drawingml/2006/main">
            <a:pPr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testes e deploy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A146EF-02DB-4462-8E53-03EFAB33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571750"/>
            <a:ext cx="1962150" cy="2095500"/>
          </a:xfrm>
          <a:prstGeom xmlns:a="http://schemas.openxmlformats.org/drawingml/2006/main" prst="roundRect">
            <a:avLst>
              <a:gd name="adj" fmla="val 9709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1</a:t>
            </a:r>
          </a:p>
          <a:p xmlns:a="http://schemas.openxmlformats.org/drawingml/2006/main">
            <a:pPr>
              <a:defRPr sz="13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E-mail M365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caixa técnica</a:t>
            </a:r>
          </a:p>
          <a:p xmlns:a="http://schemas.openxmlformats.org/drawingml/2006/main">
            <a:pPr>
              <a:defRPr sz="13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SMTP/OAuth + cron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DBFE27-AEC9-4C63-95F9-282979800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71750"/>
            <a:ext cx="1962150" cy="2095500"/>
          </a:xfrm>
          <a:prstGeom xmlns:a="http://schemas.openxmlformats.org/drawingml/2006/main" prst="roundRect">
            <a:avLst>
              <a:gd name="adj" fmla="val 9709"/>
            </a:avLst>
          </a:prstGeom>
          <a:solidFill xmlns:a="http://schemas.openxmlformats.org/drawingml/2006/main">
            <a:srgbClr val="E6F7F5"/>
          </a:solidFill>
          <a:ln xmlns:a="http://schemas.openxmlformats.org/drawingml/2006/main" w="9525">
            <a:solidFill>
              <a:srgbClr val="0EA5A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A5A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A5A4"/>
                </a:solidFill>
                <a:latin typeface="Arial"/>
                <a:ea typeface="Arial"/>
                <a:cs typeface="Arial"/>
              </a:rPr>
              <a:t>2</a:t>
            </a:r>
          </a:p>
          <a:p xmlns:a="http://schemas.openxmlformats.org/drawingml/2006/main">
            <a:pPr>
              <a:defRPr sz="1350" b="1">
                <a:solidFill>
                  <a:srgbClr val="0EA5A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A5A4"/>
                </a:solidFill>
                <a:latin typeface="Arial"/>
                <a:ea typeface="Arial"/>
                <a:cs typeface="Arial"/>
              </a:rPr>
              <a:t>Operação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1">
                <a:solidFill>
                  <a:srgbClr val="0EA5A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A5A4"/>
                </a:solidFill>
                <a:latin typeface="Arial"/>
                <a:ea typeface="Arial"/>
                <a:cs typeface="Arial"/>
              </a:rPr>
              <a:t>produção</a:t>
            </a:r>
          </a:p>
          <a:p xmlns:a="http://schemas.openxmlformats.org/drawingml/2006/main">
            <a:pPr>
              <a:defRPr sz="1350" b="1">
                <a:solidFill>
                  <a:srgbClr val="0EA5A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A5A4"/>
                </a:solidFill>
                <a:latin typeface="Arial"/>
                <a:ea typeface="Arial"/>
                <a:cs typeface="Arial"/>
              </a:rPr>
              <a:t>monitoramento e backup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19812F-4B31-4FDB-A158-9E36F2B7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571750"/>
            <a:ext cx="1962150" cy="2095500"/>
          </a:xfrm>
          <a:prstGeom xmlns:a="http://schemas.openxmlformats.org/drawingml/2006/main" prst="roundRect">
            <a:avLst>
              <a:gd name="adj" fmla="val 9709"/>
            </a:avLst>
          </a:prstGeom>
          <a:solidFill xmlns:a="http://schemas.openxmlformats.org/drawingml/2006/main">
            <a:srgbClr val="E6F5EE"/>
          </a:solidFill>
          <a:ln xmlns:a="http://schemas.openxmlformats.org/drawingml/2006/main" w="9525">
            <a:solidFill>
              <a:srgbClr val="1680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805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805B"/>
                </a:solidFill>
                <a:latin typeface="Arial"/>
                <a:ea typeface="Arial"/>
                <a:cs typeface="Arial"/>
              </a:rPr>
              <a:t>3</a:t>
            </a:r>
          </a:p>
          <a:p xmlns:a="http://schemas.openxmlformats.org/drawingml/2006/main">
            <a:pPr>
              <a:defRPr sz="1350" b="1">
                <a:solidFill>
                  <a:srgbClr val="16805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805B"/>
                </a:solidFill>
                <a:latin typeface="Arial"/>
                <a:ea typeface="Arial"/>
                <a:cs typeface="Arial"/>
              </a:rPr>
              <a:t>Offline/tablet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1">
                <a:solidFill>
                  <a:srgbClr val="16805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805B"/>
                </a:solidFill>
                <a:latin typeface="Arial"/>
                <a:ea typeface="Arial"/>
                <a:cs typeface="Arial"/>
              </a:rPr>
              <a:t>sincronização</a:t>
            </a:r>
          </a:p>
          <a:p xmlns:a="http://schemas.openxmlformats.org/drawingml/2006/main">
            <a:pPr>
              <a:defRPr sz="1350" b="1">
                <a:solidFill>
                  <a:srgbClr val="16805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805B"/>
                </a:solidFill>
                <a:latin typeface="Arial"/>
                <a:ea typeface="Arial"/>
                <a:cs typeface="Arial"/>
              </a:rPr>
              <a:t>conflitos e UX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D58409-764E-4D6B-A239-A16DD5ED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571750"/>
            <a:ext cx="1962150" cy="2095500"/>
          </a:xfrm>
          <a:prstGeom xmlns:a="http://schemas.openxmlformats.org/drawingml/2006/main" prst="roundRect">
            <a:avLst>
              <a:gd name="adj" fmla="val 9709"/>
            </a:avLst>
          </a:prstGeom>
          <a:solidFill xmlns:a="http://schemas.openxmlformats.org/drawingml/2006/main">
            <a:srgbClr val="EEF0FF"/>
          </a:solidFill>
          <a:ln xmlns:a="http://schemas.openxmlformats.org/drawingml/2006/main" w="9525">
            <a:solidFill>
              <a:srgbClr val="5A55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A55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A55C9"/>
                </a:solidFill>
                <a:latin typeface="Arial"/>
                <a:ea typeface="Arial"/>
                <a:cs typeface="Arial"/>
              </a:rPr>
              <a:t>4</a:t>
            </a:r>
          </a:p>
          <a:p xmlns:a="http://schemas.openxmlformats.org/drawingml/2006/main">
            <a:pPr>
              <a:defRPr sz="1350" b="1">
                <a:solidFill>
                  <a:srgbClr val="5A55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A55C9"/>
                </a:solidFill>
                <a:latin typeface="Arial"/>
                <a:ea typeface="Arial"/>
                <a:cs typeface="Arial"/>
              </a:rPr>
              <a:t>Lecom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1">
                <a:solidFill>
                  <a:srgbClr val="5A55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A55C9"/>
                </a:solidFill>
                <a:latin typeface="Arial"/>
                <a:ea typeface="Arial"/>
                <a:cs typeface="Arial"/>
              </a:rPr>
              <a:t>homologação</a:t>
            </a:r>
          </a:p>
          <a:p xmlns:a="http://schemas.openxmlformats.org/drawingml/2006/main">
            <a:pPr>
              <a:defRPr sz="1350" b="1">
                <a:solidFill>
                  <a:srgbClr val="5A55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A55C9"/>
                </a:solidFill>
                <a:latin typeface="Arial"/>
                <a:ea typeface="Arial"/>
                <a:cs typeface="Arial"/>
              </a:rPr>
              <a:t>produção e auditoria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0FC598-EEEB-473C-ABF9-69BD575E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410200"/>
            <a:ext cx="838200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0B1424"/>
          </a:solidFill>
          <a:ln xmlns:a="http://schemas.openxmlformats.org/drawingml/2006/main" w="9525">
            <a:solidFill>
              <a:srgbClr val="0B142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IA é uma evolução posterior: serviço Python isolado, fila própria e acesso somente por contratos da aplicação. Não é pré-requisito para estabilizar o produto.</a:t>
            </a:r>
          </a:p>
        </p:txBody>
      </p:sp>
    </p:spTree>
    <p:extLst>
      <p:ext uri="{BB962C8B-B14F-4D97-AF65-F5344CB8AC3E}">
        <p14:creationId xmlns:p14="http://schemas.microsoft.com/office/powerpoint/2010/main" val="19359854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3B6F9D-5A1B-4861-9DEF-D40062BF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09 / DECISÃO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DD34C9-7874-4713-98E4-9BD54D0F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235"/>
                </a:solidFill>
                <a:latin typeface="Arial"/>
                <a:ea typeface="Arial"/>
                <a:cs typeface="Arial"/>
              </a:rPr>
              <a:t>Checklist de go-live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E7BD71-706E-4173-8148-4E5C4892D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E12925-ED42-4255-A7BB-8C81D9C60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1819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DC2E95-3F2F-417B-AD74-BC2C6341D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O projeto está documentado para implementação incremental. As próximas decisões são operacionais, não de direção.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2691C6-7DC8-4403-B98E-CE973E90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6858000" cy="323850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235"/>
                </a:solidFill>
                <a:latin typeface="Arial"/>
                <a:ea typeface="Arial"/>
                <a:cs typeface="Arial"/>
              </a:rPr>
              <a:t>☐ Confirmar caixa técnica e política de autenticação do Microsoft 365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235"/>
                </a:solidFill>
                <a:latin typeface="Arial"/>
                <a:ea typeface="Arial"/>
                <a:cs typeface="Arial"/>
              </a:rPr>
              <a:t>☐ Cadastrar variáveis e segredos no ambiente de produção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235"/>
                </a:solidFill>
                <a:latin typeface="Arial"/>
                <a:ea typeface="Arial"/>
                <a:cs typeface="Arial"/>
              </a:rPr>
              <a:t>☐ Configurar cron/worker da fila de e-mails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235"/>
                </a:solidFill>
                <a:latin typeface="Arial"/>
                <a:ea typeface="Arial"/>
                <a:cs typeface="Arial"/>
              </a:rPr>
              <a:t>☐ Confirmar base MySQL/MariaDB, backup e retenção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235"/>
                </a:solidFill>
                <a:latin typeface="Arial"/>
                <a:ea typeface="Arial"/>
                <a:cs typeface="Arial"/>
              </a:rPr>
              <a:t>☐ Validar processo Lecom 26 / versão 10 em homologação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235"/>
                </a:solidFill>
                <a:latin typeface="Arial"/>
                <a:ea typeface="Arial"/>
                <a:cs typeface="Arial"/>
              </a:rPr>
              <a:t>☐ Executar aceite com solicitante, aprovador e operação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B0BFEB-E7D2-42B8-AA55-40F8E2E03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67000"/>
            <a:ext cx="2781300" cy="247650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PRÓXIMO MARCO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Ambiente produtivo com</a:t>
            </a:r>
          </a:p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solicitação → aprovação →</a:t>
            </a:r>
          </a:p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Lecom → e-mail confirmados.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F7EF86-13C5-491E-8317-6B2679596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18198"/>
                </a:solidFill>
                <a:latin typeface="Arial"/>
                <a:ea typeface="Arial"/>
                <a:cs typeface="Arial"/>
              </a:rPr>
              <a:t>Documentação versionada junto ao projeto</a:t>
            </a:r>
          </a:p>
        </p:txBody>
      </p:sp>
    </p:spTree>
    <p:extLst>
      <p:ext uri="{BB962C8B-B14F-4D97-AF65-F5344CB8AC3E}">
        <p14:creationId xmlns:p14="http://schemas.microsoft.com/office/powerpoint/2010/main" val="18186647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2026-09-26T19:11:09.9590000Z</dcterms:created>
  <dcterms:modified xsi:type="dcterms:W3CDTF">2026-09-26T19:11:09.9590000Z</dcterms:modified>
</coreProperties>
</file>